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main story: this is a complete transcriptomics ML project, not just a classifier. It includes preprocessing, ML, explainability, pathway biology, and external validation.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fingerprint analogy: each subtype has a characteristic gene-expression pattern. The model learns those molecular fingerprints.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clear that the two cohorts are not identical. That is why external validation is meaningful and challenging.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demonstrates methodological maturity. Emphasize leakage control and reproducibility.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that you understand class imbalance. This justifies using balanced accuracy and macro F1, not just accuracy.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interview answer: deep learning did not beat logistic regression because the sample size is modest and the signal is already linearly separable.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proves biological credibility. Mention ERBB2/GRB7, estrogen response, E2F/cell-cycle, and basal-like signal.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platform shift: a model trained on RNA-seq-scaled features cannot directly interpret raw microarray values.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strongest result. State the failure and rescue clearly: raw failed, z-score worked.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 the confusion matrix. It is not random failure: errors are aligned with known subtype relationships.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for defense. It shows you know what is strong and what is not finished.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by saying the next extension is survival analysis: it connects molecular subtype predictions with clinical outcome.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3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AA7A5"/>
          </a:solidFill>
          <a:ln w="12700">
            <a:solidFill>
              <a:srgbClr val="2AA7A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1005840"/>
            <a:ext cx="6675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</a:rPr>
              <a:t>Interpretable Cross-Cohort</a:t>
            </a:r>
            <a:endParaRPr lang="en-US" sz="3300" dirty="0"/>
          </a:p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</a:rPr>
              <a:t>Transcriptomic Classification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704088" y="2432304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E9F0"/>
                </a:solidFill>
              </a:rPr>
              <a:t>Breast cancer molecular subtypes using TCGA-BRCA and METABRIC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04088" y="619048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CDD8"/>
                </a:solidFill>
              </a:rPr>
              <a:t>Project demo deck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001000" y="105156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TCGA RNA-seq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065008" y="1627632"/>
            <a:ext cx="2423160" cy="347472"/>
          </a:xfrm>
          <a:prstGeom prst="roundRect">
            <a:avLst>
              <a:gd name="adj" fmla="val 21053"/>
            </a:avLst>
          </a:prstGeom>
          <a:solidFill>
            <a:srgbClr val="2AA7A5"/>
          </a:solidFill>
          <a:ln w="12700">
            <a:solidFill>
              <a:srgbClr val="2AA7A5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29016" y="1705356"/>
            <a:ext cx="2295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Train / test classifier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8001000" y="260604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SHAP + pathway enrichment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8065008" y="3182112"/>
            <a:ext cx="2423160" cy="347472"/>
          </a:xfrm>
          <a:prstGeom prst="roundRect">
            <a:avLst>
              <a:gd name="adj" fmla="val 21053"/>
            </a:avLst>
          </a:prstGeom>
          <a:solidFill>
            <a:srgbClr val="7B61FF"/>
          </a:solidFill>
          <a:ln w="12700">
            <a:solidFill>
              <a:srgbClr val="7B61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29016" y="3259836"/>
            <a:ext cx="2295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Recover known biology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8001000" y="416052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METABRIC validation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8065008" y="4736592"/>
            <a:ext cx="2423160" cy="347472"/>
          </a:xfrm>
          <a:prstGeom prst="roundRect">
            <a:avLst>
              <a:gd name="adj" fmla="val 21053"/>
            </a:avLst>
          </a:prstGeom>
          <a:solidFill>
            <a:srgbClr val="E76F51"/>
          </a:solidFill>
          <a:ln w="12700">
            <a:solidFill>
              <a:srgbClr val="E76F51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29016" y="4814316"/>
            <a:ext cx="2295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External accuracy 0.818</a:t>
            </a:r>
            <a:endParaRPr lang="en-US" sz="8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A7A5"/>
          </a:solidFill>
          <a:ln w="12700">
            <a:solidFill>
              <a:srgbClr val="2AA7A5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3891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8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Big picture: tumor subtype is a transcriptomic fingerprint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95097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Breast cancer is molecularly heterogeneous; gene expression captures subtype identity.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67512" y="15087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A7A5"/>
                </a:solidFill>
              </a:rPr>
              <a:t>Core question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76656" y="1847088"/>
            <a:ext cx="493776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8324A"/>
                </a:solidFill>
              </a:rPr>
              <a:t>Can a model trained on TCGA-BRCA RNA-seq learn breast cancer subtype biology and transfer to another cohort?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76656" y="3090672"/>
            <a:ext cx="4956048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8EE">
                <a:alpha val="8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3227832"/>
            <a:ext cx="4626864" cy="1737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447"/>
                </a:solidFill>
              </a:rPr>
              <a:t>Why this matters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447"/>
                </a:solidFill>
              </a:rPr>
              <a:t>• Subtypes guide biology, prognosis, and treatment context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447"/>
                </a:solidFill>
              </a:rPr>
              <a:t>• ML can test whether subtype signals are separable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447"/>
                </a:solidFill>
              </a:rPr>
              <a:t>• External validation asks: is the signal real or cohort-specific?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583680" y="1508760"/>
            <a:ext cx="1874520" cy="566928"/>
          </a:xfrm>
          <a:prstGeom prst="roundRect">
            <a:avLst>
              <a:gd name="adj" fmla="val 14516"/>
            </a:avLst>
          </a:prstGeom>
          <a:solidFill>
            <a:srgbClr val="2AA7A5"/>
          </a:solidFill>
          <a:ln w="12700">
            <a:solidFill>
              <a:srgbClr val="2AA7A5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38544" y="1645920"/>
            <a:ext cx="1764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RNA-seq expression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9189720" y="1508760"/>
            <a:ext cx="1645920" cy="566928"/>
          </a:xfrm>
          <a:prstGeom prst="roundRect">
            <a:avLst>
              <a:gd name="adj" fmla="val 14516"/>
            </a:avLst>
          </a:prstGeom>
          <a:solidFill>
            <a:srgbClr val="E76F51"/>
          </a:solidFill>
          <a:ln w="12700">
            <a:solidFill>
              <a:srgbClr val="E76F5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44584" y="1645920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Subtype labels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8458200" y="1792224"/>
            <a:ext cx="73152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882128" y="2788920"/>
            <a:ext cx="1737360" cy="566928"/>
          </a:xfrm>
          <a:prstGeom prst="roundRect">
            <a:avLst>
              <a:gd name="adj" fmla="val 14516"/>
            </a:avLst>
          </a:prstGeom>
          <a:solidFill>
            <a:srgbClr val="18324A"/>
          </a:solidFill>
          <a:ln w="12700">
            <a:solidFill>
              <a:srgbClr val="18324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36992" y="2926080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Classifier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7543800" y="2075688"/>
            <a:ext cx="822960" cy="713232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646920" y="2075688"/>
            <a:ext cx="-594360" cy="713232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629400" y="4160520"/>
            <a:ext cx="2194560" cy="566928"/>
          </a:xfrm>
          <a:prstGeom prst="roundRect">
            <a:avLst>
              <a:gd name="adj" fmla="val 14516"/>
            </a:avLst>
          </a:prstGeom>
          <a:solidFill>
            <a:srgbClr val="7B61FF"/>
          </a:solidFill>
          <a:ln w="12700">
            <a:solidFill>
              <a:srgbClr val="7B61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84264" y="4297680"/>
            <a:ext cx="2084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Biological interpretation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9189720" y="4160520"/>
            <a:ext cx="1965960" cy="566928"/>
          </a:xfrm>
          <a:prstGeom prst="roundRect">
            <a:avLst>
              <a:gd name="adj" fmla="val 14516"/>
            </a:avLst>
          </a:prstGeom>
          <a:solidFill>
            <a:srgbClr val="E9C46A"/>
          </a:solidFill>
          <a:ln w="12700">
            <a:solidFill>
              <a:srgbClr val="E9C46A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44584" y="4297680"/>
            <a:ext cx="1856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External validation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8732520" y="3355848"/>
            <a:ext cx="-1005840" cy="804672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732520" y="3355848"/>
            <a:ext cx="1280160" cy="804672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502920" y="6446520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TCGA-BRCA × METABRIC transcriptomics ML project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201400" y="64282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A7A5"/>
          </a:solidFill>
          <a:ln w="12700">
            <a:solidFill>
              <a:srgbClr val="2AA7A5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3891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8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architecture: one training cohort, one external cohort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95097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TCGA-BRCA builds the model; METABRIC tests transfer across platform and cohort.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5166360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DE8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0" y="1508760"/>
            <a:ext cx="5166360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DE8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7556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A7A5"/>
                </a:solidFill>
              </a:rPr>
              <a:t>TCGA-BRCA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68680" y="2148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RNA-seq • Training / validation / testing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281635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AA7A5"/>
                </a:solidFill>
              </a:rPr>
              <a:t>821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868680" y="33832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43447"/>
                </a:solidFill>
              </a:rPr>
              <a:t>final modeling samples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063240" y="281635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AA7A5"/>
                </a:solidFill>
              </a:rPr>
              <a:t>20,530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3063240" y="33832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43447"/>
                </a:solidFill>
              </a:rPr>
              <a:t>original gene features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920240" y="38862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AA7A5"/>
                </a:solidFill>
              </a:rPr>
              <a:t>5,000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1920240" y="445312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43447"/>
                </a:solidFill>
              </a:rPr>
              <a:t>selected ML genes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629400" y="17556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B61FF"/>
                </a:solidFill>
              </a:rPr>
              <a:t>METABRIC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629400" y="2148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Illumina microarray • External validation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629400" y="281635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7B61FF"/>
                </a:solidFill>
              </a:rPr>
              <a:t>1,608</a:t>
            </a:r>
            <a:endParaRPr lang="en-US" sz="2500" dirty="0"/>
          </a:p>
        </p:txBody>
      </p:sp>
      <p:sp>
        <p:nvSpPr>
          <p:cNvPr id="19" name="Text 17"/>
          <p:cNvSpPr/>
          <p:nvPr/>
        </p:nvSpPr>
        <p:spPr>
          <a:xfrm>
            <a:off x="6629400" y="33832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43447"/>
                </a:solidFill>
              </a:rPr>
              <a:t>4-class validation samples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851392" y="281635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7B61FF"/>
                </a:solidFill>
              </a:rPr>
              <a:t>4,311</a:t>
            </a:r>
            <a:endParaRPr lang="en-US" sz="2500" dirty="0"/>
          </a:p>
        </p:txBody>
      </p:sp>
      <p:sp>
        <p:nvSpPr>
          <p:cNvPr id="21" name="Text 19"/>
          <p:cNvSpPr/>
          <p:nvPr/>
        </p:nvSpPr>
        <p:spPr>
          <a:xfrm>
            <a:off x="8851392" y="33832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43447"/>
                </a:solidFill>
              </a:rPr>
              <a:t>shared genes used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754112" y="38862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7B61FF"/>
                </a:solidFill>
              </a:rPr>
              <a:t>86.22%</a:t>
            </a:r>
            <a:endParaRPr lang="en-US" sz="2500" dirty="0"/>
          </a:p>
        </p:txBody>
      </p:sp>
      <p:sp>
        <p:nvSpPr>
          <p:cNvPr id="23" name="Text 21"/>
          <p:cNvSpPr/>
          <p:nvPr/>
        </p:nvSpPr>
        <p:spPr>
          <a:xfrm>
            <a:off x="7754112" y="445312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43447"/>
                </a:solidFill>
              </a:rPr>
              <a:t>TCGA-METABRIC gene overlap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697480" y="5257800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8324A"/>
                </a:solidFill>
              </a:rPr>
              <a:t>Matched classes: LumA, LumB, Basal, Her2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2920" y="6446520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TCGA-BRCA × METABRIC transcriptomics ML project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201400" y="64282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A7A5"/>
          </a:solidFill>
          <a:ln w="12700">
            <a:solidFill>
              <a:srgbClr val="2AA7A5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3891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8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Reproducible pipeline: from expression matrix to validation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95097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Leakage control was built into feature selection and scaling.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1115568" cy="566928"/>
          </a:xfrm>
          <a:prstGeom prst="roundRect">
            <a:avLst>
              <a:gd name="adj" fmla="val 14516"/>
            </a:avLst>
          </a:prstGeom>
          <a:solidFill>
            <a:srgbClr val="2AA7A5"/>
          </a:solidFill>
          <a:ln w="12700">
            <a:solidFill>
              <a:srgbClr val="2AA7A5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" y="19659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Download</a:t>
            </a:r>
            <a:endParaRPr lang="en-US" sz="980" dirty="0"/>
          </a:p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expression + metadata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1755648" y="2112264"/>
            <a:ext cx="164592" cy="0"/>
          </a:xfrm>
          <a:prstGeom prst="line">
            <a:avLst/>
          </a:prstGeom>
          <a:noFill/>
          <a:ln w="19050">
            <a:solidFill>
              <a:srgbClr val="8A97A6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920240" y="1828800"/>
            <a:ext cx="1115568" cy="566928"/>
          </a:xfrm>
          <a:prstGeom prst="roundRect">
            <a:avLst>
              <a:gd name="adj" fmla="val 14516"/>
            </a:avLst>
          </a:prstGeom>
          <a:solidFill>
            <a:srgbClr val="2AA7A5"/>
          </a:solidFill>
          <a:ln w="12700">
            <a:solidFill>
              <a:srgbClr val="2AA7A5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75104" y="19659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Filter primary</a:t>
            </a:r>
            <a:endParaRPr lang="en-US" sz="980" dirty="0"/>
          </a:p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tumors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3035808" y="2112264"/>
            <a:ext cx="164592" cy="0"/>
          </a:xfrm>
          <a:prstGeom prst="line">
            <a:avLst/>
          </a:prstGeom>
          <a:noFill/>
          <a:ln w="19050">
            <a:solidFill>
              <a:srgbClr val="8A97A6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200400" y="1828800"/>
            <a:ext cx="1115568" cy="566928"/>
          </a:xfrm>
          <a:prstGeom prst="roundRect">
            <a:avLst>
              <a:gd name="adj" fmla="val 14516"/>
            </a:avLst>
          </a:prstGeom>
          <a:solidFill>
            <a:srgbClr val="2AA7A5"/>
          </a:solidFill>
          <a:ln w="12700">
            <a:solidFill>
              <a:srgbClr val="2AA7A5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55264" y="19659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Merge PAM50</a:t>
            </a:r>
            <a:endParaRPr lang="en-US" sz="980" dirty="0"/>
          </a:p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labels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4315968" y="2112264"/>
            <a:ext cx="164592" cy="0"/>
          </a:xfrm>
          <a:prstGeom prst="line">
            <a:avLst/>
          </a:prstGeom>
          <a:noFill/>
          <a:ln w="19050">
            <a:solidFill>
              <a:srgbClr val="8A97A6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480560" y="1828800"/>
            <a:ext cx="1115568" cy="566928"/>
          </a:xfrm>
          <a:prstGeom prst="roundRect">
            <a:avLst>
              <a:gd name="adj" fmla="val 14516"/>
            </a:avLst>
          </a:prstGeom>
          <a:solidFill>
            <a:srgbClr val="18324A"/>
          </a:solidFill>
          <a:ln w="12700">
            <a:solidFill>
              <a:srgbClr val="18324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35424" y="19659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Train / val / test</a:t>
            </a:r>
            <a:endParaRPr lang="en-US" sz="980" dirty="0"/>
          </a:p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split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5596128" y="2112264"/>
            <a:ext cx="164592" cy="0"/>
          </a:xfrm>
          <a:prstGeom prst="line">
            <a:avLst/>
          </a:prstGeom>
          <a:noFill/>
          <a:ln w="19050">
            <a:solidFill>
              <a:srgbClr val="8A97A6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760720" y="1828800"/>
            <a:ext cx="1115568" cy="566928"/>
          </a:xfrm>
          <a:prstGeom prst="roundRect">
            <a:avLst>
              <a:gd name="adj" fmla="val 14516"/>
            </a:avLst>
          </a:prstGeom>
          <a:solidFill>
            <a:srgbClr val="18324A"/>
          </a:solidFill>
          <a:ln w="12700">
            <a:solidFill>
              <a:srgbClr val="18324A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15584" y="19659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Top 5,000 genes</a:t>
            </a:r>
            <a:endParaRPr lang="en-US" sz="980" dirty="0"/>
          </a:p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train-only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6876288" y="2112264"/>
            <a:ext cx="164592" cy="0"/>
          </a:xfrm>
          <a:prstGeom prst="line">
            <a:avLst/>
          </a:prstGeom>
          <a:noFill/>
          <a:ln w="19050">
            <a:solidFill>
              <a:srgbClr val="8A97A6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040880" y="1828800"/>
            <a:ext cx="1115568" cy="566928"/>
          </a:xfrm>
          <a:prstGeom prst="roundRect">
            <a:avLst>
              <a:gd name="adj" fmla="val 14516"/>
            </a:avLst>
          </a:prstGeom>
          <a:solidFill>
            <a:srgbClr val="18324A"/>
          </a:solidFill>
          <a:ln w="12700">
            <a:solidFill>
              <a:srgbClr val="18324A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95744" y="19659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Scale</a:t>
            </a:r>
            <a:endParaRPr lang="en-US" sz="980" dirty="0"/>
          </a:p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train-only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8156448" y="2112264"/>
            <a:ext cx="164592" cy="0"/>
          </a:xfrm>
          <a:prstGeom prst="line">
            <a:avLst/>
          </a:prstGeom>
          <a:noFill/>
          <a:ln w="19050">
            <a:solidFill>
              <a:srgbClr val="8A97A6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321040" y="1828800"/>
            <a:ext cx="1115568" cy="566928"/>
          </a:xfrm>
          <a:prstGeom prst="roundRect">
            <a:avLst>
              <a:gd name="adj" fmla="val 14516"/>
            </a:avLst>
          </a:prstGeom>
          <a:solidFill>
            <a:srgbClr val="7B61FF"/>
          </a:solidFill>
          <a:ln w="12700">
            <a:solidFill>
              <a:srgbClr val="7B61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75904" y="19659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Train models</a:t>
            </a:r>
            <a:endParaRPr lang="en-US" sz="980" dirty="0"/>
          </a:p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LR/RF/MLP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9436608" y="2112264"/>
            <a:ext cx="164592" cy="0"/>
          </a:xfrm>
          <a:prstGeom prst="line">
            <a:avLst/>
          </a:prstGeom>
          <a:noFill/>
          <a:ln w="19050">
            <a:solidFill>
              <a:srgbClr val="8A97A6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601200" y="1828800"/>
            <a:ext cx="1115568" cy="566928"/>
          </a:xfrm>
          <a:prstGeom prst="roundRect">
            <a:avLst>
              <a:gd name="adj" fmla="val 14516"/>
            </a:avLst>
          </a:prstGeom>
          <a:solidFill>
            <a:srgbClr val="7B61FF"/>
          </a:solidFill>
          <a:ln w="12700">
            <a:solidFill>
              <a:srgbClr val="7B61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56064" y="19659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Interpret</a:t>
            </a:r>
            <a:endParaRPr lang="en-US" sz="980" dirty="0"/>
          </a:p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SHAP + pathways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10716768" y="2112264"/>
            <a:ext cx="164592" cy="0"/>
          </a:xfrm>
          <a:prstGeom prst="line">
            <a:avLst/>
          </a:prstGeom>
          <a:noFill/>
          <a:ln w="19050">
            <a:solidFill>
              <a:srgbClr val="8A97A6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10881360" y="1828800"/>
            <a:ext cx="1115568" cy="566928"/>
          </a:xfrm>
          <a:prstGeom prst="roundRect">
            <a:avLst>
              <a:gd name="adj" fmla="val 14516"/>
            </a:avLst>
          </a:prstGeom>
          <a:solidFill>
            <a:srgbClr val="E76F51"/>
          </a:solidFill>
          <a:ln w="12700">
            <a:solidFill>
              <a:srgbClr val="E76F51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36224" y="19659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METABRIC</a:t>
            </a:r>
            <a:endParaRPr lang="en-US" sz="980" dirty="0"/>
          </a:p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external validation</a:t>
            </a:r>
            <a:endParaRPr lang="en-US" sz="980" dirty="0"/>
          </a:p>
        </p:txBody>
      </p:sp>
      <p:sp>
        <p:nvSpPr>
          <p:cNvPr id="32" name="Shape 30"/>
          <p:cNvSpPr/>
          <p:nvPr/>
        </p:nvSpPr>
        <p:spPr>
          <a:xfrm>
            <a:off x="914400" y="3218688"/>
            <a:ext cx="48463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DE8EE">
                <a:alpha val="8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78992" y="3355848"/>
            <a:ext cx="4517136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447"/>
                </a:solidFill>
              </a:rPr>
              <a:t>Leakage prevention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447"/>
                </a:solidFill>
              </a:rPr>
              <a:t>Feature selection and scaling were fit on training data only, then applied to validation, test, and external data.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400800" y="3218688"/>
            <a:ext cx="46634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DE8EE">
                <a:alpha val="8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65392" y="3355848"/>
            <a:ext cx="4334256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447"/>
                </a:solidFill>
              </a:rPr>
              <a:t>Reproducibility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447"/>
                </a:solidFill>
              </a:rPr>
              <a:t>The full pipeline is script-based and rerunnable from the repository with conda + bash run_all.sh.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143000" y="493776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8324A"/>
                </a:solidFill>
              </a:rPr>
              <a:t>Core principle: do not let test/external information influence preprocessing.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502920" y="6446520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TCGA-BRCA × METABRIC transcriptomics ML project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1201400" y="64282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A7A5"/>
          </a:solidFill>
          <a:ln w="12700">
            <a:solidFill>
              <a:srgbClr val="2AA7A5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3891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8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Cohort composition: subtype imbalance is real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95097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LumA dominates both cohorts, so balanced accuracy and macro F1 matter.</a:t>
            </a:r>
            <a:endParaRPr lang="en-US" sz="1150" dirty="0"/>
          </a:p>
        </p:txBody>
      </p:sp>
      <p:pic>
        <p:nvPicPr>
          <p:cNvPr id="6" name="Image 0" descr="/mnt/data/tcga_slides_assets/class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859807"/>
            <a:ext cx="6400800" cy="350414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543800" y="1600200"/>
            <a:ext cx="3566160" cy="40233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DE8E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818120" y="18745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324A"/>
                </a:solidFill>
              </a:rPr>
              <a:t>Why macro F1?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818120" y="2423160"/>
            <a:ext cx="2971800" cy="2468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43447"/>
                </a:solidFill>
              </a:rPr>
              <a:t>Accuracy can look high when the model mostly predicts the largest class.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43447"/>
                </a:solidFill>
              </a:rPr>
              <a:t>Macro F1 gives each subtype equal importance, so it penalizes poor minority-class performance.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43447"/>
                </a:solidFill>
              </a:rPr>
              <a:t>This is important for Her2 and Basal samples.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818120" y="5074920"/>
            <a:ext cx="2880360" cy="347472"/>
          </a:xfrm>
          <a:prstGeom prst="roundRect">
            <a:avLst>
              <a:gd name="adj" fmla="val 21053"/>
            </a:avLst>
          </a:prstGeom>
          <a:solidFill>
            <a:srgbClr val="2AA7A5"/>
          </a:solidFill>
          <a:ln w="12700">
            <a:solidFill>
              <a:srgbClr val="2AA7A5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82128" y="5152644"/>
            <a:ext cx="27523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Evaluation: accuracy + balanced accuracy + macro F1</a:t>
            </a:r>
            <a:endParaRPr lang="en-US" sz="880" dirty="0"/>
          </a:p>
        </p:txBody>
      </p:sp>
      <p:sp>
        <p:nvSpPr>
          <p:cNvPr id="12" name="Text 9"/>
          <p:cNvSpPr/>
          <p:nvPr/>
        </p:nvSpPr>
        <p:spPr>
          <a:xfrm>
            <a:off x="502920" y="6446520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TCGA-BRCA × METABRIC transcriptomics ML project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1201400" y="64282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A7A5"/>
          </a:solidFill>
          <a:ln w="12700">
            <a:solidFill>
              <a:srgbClr val="2AA7A5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3891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8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comparison: simple linear model wins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95097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Logistic Regression outperformed Random Forest and the MLP benchmark.</a:t>
            </a:r>
            <a:endParaRPr lang="en-US" sz="1150" dirty="0"/>
          </a:p>
        </p:txBody>
      </p:sp>
      <p:pic>
        <p:nvPicPr>
          <p:cNvPr id="6" name="Image 0" descr="/mnt/data/tcga_slides_assets/model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766197"/>
            <a:ext cx="6492240" cy="35542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635240" y="16002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A7A5"/>
                </a:solidFill>
              </a:rPr>
              <a:t>Best current model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635240" y="1993392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8324A"/>
                </a:solidFill>
              </a:rPr>
              <a:t>Logistic Regression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7635240" y="2788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</a:rPr>
              <a:t>Test performance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452360" y="31546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AA7A5"/>
                </a:solidFill>
              </a:rPr>
              <a:t>0.8909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7452360" y="372160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43447"/>
                </a:solidFill>
              </a:rPr>
              <a:t>accuracy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9281160" y="31546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E76F51"/>
                </a:solidFill>
              </a:rPr>
              <a:t>0.8821</a:t>
            </a:r>
            <a:endParaRPr lang="en-US" sz="2500" dirty="0"/>
          </a:p>
        </p:txBody>
      </p:sp>
      <p:sp>
        <p:nvSpPr>
          <p:cNvPr id="13" name="Text 10"/>
          <p:cNvSpPr/>
          <p:nvPr/>
        </p:nvSpPr>
        <p:spPr>
          <a:xfrm>
            <a:off x="9281160" y="372160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43447"/>
                </a:solidFill>
              </a:rPr>
              <a:t>macro F1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7635240" y="5010912"/>
            <a:ext cx="3200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447"/>
                </a:solidFill>
              </a:rPr>
              <a:t>Interpretation: the subtype signal was strong and mostly linearly separable in transcriptomic space.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02920" y="6446520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TCGA-BRCA × METABRIC transcriptomics ML project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11201400" y="64282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A7A5"/>
          </a:solidFill>
          <a:ln w="12700">
            <a:solidFill>
              <a:srgbClr val="2AA7A5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3891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8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Interpretability: the model recovered known subtype biology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95097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Coefficients, SHAP, and pathway enrichment aligned with breast cancer biology.</a:t>
            </a:r>
            <a:endParaRPr lang="en-US" sz="1150" dirty="0"/>
          </a:p>
        </p:txBody>
      </p:sp>
      <p:pic>
        <p:nvPicPr>
          <p:cNvPr id="6" name="Image 0" descr="/mnt/data/tcga_slides_assets/biology_signa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30135"/>
            <a:ext cx="5852160" cy="318061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12280" y="1572768"/>
            <a:ext cx="461772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DE8E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059168" y="184708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</a:rPr>
              <a:t>Subtype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028432" y="1847088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</a:rPr>
              <a:t>Recovered signal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9829800" y="18470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</a:rPr>
              <a:t>Meaning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059168" y="2331720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324A"/>
                </a:solidFill>
              </a:rPr>
              <a:t>Her2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028432" y="233172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ERBB2 / GRB7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9829800" y="2331720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HER2 signaling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059168" y="2834640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324A"/>
                </a:solidFill>
              </a:rPr>
              <a:t>LumA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028432" y="283464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ESR1 / estrogen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9829800" y="2834640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Hormone-response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7059168" y="3337560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324A"/>
                </a:solidFill>
              </a:rPr>
              <a:t>LumB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028432" y="333756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E2F / cell cycle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9829800" y="3337560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Proliferation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7059168" y="3840480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324A"/>
                </a:solidFill>
              </a:rPr>
              <a:t>Basal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028432" y="384048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Basal-like profile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9829800" y="3840480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Non-luminal signal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949440" y="4892040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DE8EE">
                <a:alpha val="80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114032" y="5029200"/>
            <a:ext cx="3922776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447"/>
                </a:solidFill>
              </a:rPr>
              <a:t>Main point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447"/>
                </a:solidFill>
              </a:rPr>
              <a:t>The model was not only accurate; it learned biologically meaningful gene programs.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502920" y="6446520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TCGA-BRCA × METABRIC transcriptomics ML project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11201400" y="64282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A7A5"/>
          </a:solidFill>
          <a:ln w="12700">
            <a:solidFill>
              <a:srgbClr val="2AA7A5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3891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8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External validation challenge: platform shift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95097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METABRIC microarray values were not directly comparable to TCGA RNA-seq scaling.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914400" y="1508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A7A5"/>
                </a:solidFill>
              </a:rPr>
              <a:t>TCGA-BRCA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188366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RNA-seq expression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68680" y="2331720"/>
            <a:ext cx="37947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DE8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80160" y="2880360"/>
            <a:ext cx="29718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8324A"/>
                </a:solidFill>
              </a:rPr>
              <a:t>Model learns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18324A"/>
                </a:solidFill>
              </a:rPr>
              <a:t>TCGA-scaled boundaries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315200" y="1508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B61FF"/>
                </a:solidFill>
              </a:rPr>
              <a:t>METABRIC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315200" y="188366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Illumina microarray expression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178040" y="2331720"/>
            <a:ext cx="37947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DE8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43800" y="2880360"/>
            <a:ext cx="306324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8324A"/>
                </a:solidFill>
              </a:rPr>
              <a:t>Raw values shift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18324A"/>
                </a:solidFill>
              </a:rPr>
              <a:t>into wrong feature space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709160" y="3273552"/>
            <a:ext cx="2468880" cy="0"/>
          </a:xfrm>
          <a:prstGeom prst="line">
            <a:avLst/>
          </a:prstGeom>
          <a:noFill/>
          <a:ln w="19050">
            <a:solidFill>
              <a:srgbClr val="E76F51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2057400" y="50749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76F51"/>
                </a:solidFill>
              </a:rPr>
              <a:t>Raw transfer failed: model predicted almost everything as LumA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02920" y="6446520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TCGA-BRCA × METABRIC transcriptomics ML project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1201400" y="64282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A7A5"/>
          </a:solidFill>
          <a:ln w="12700">
            <a:solidFill>
              <a:srgbClr val="2AA7A5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3891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8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Z-score normalization rescued external validation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95097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METABRIC z-score expression improved cross-platform transfer.</a:t>
            </a:r>
            <a:endParaRPr lang="en-US" sz="1150" dirty="0"/>
          </a:p>
        </p:txBody>
      </p:sp>
      <p:pic>
        <p:nvPicPr>
          <p:cNvPr id="6" name="Image 0" descr="/mnt/data/tcga_slides_assets/external_validation_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22827"/>
            <a:ext cx="6583680" cy="359522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635240" y="15727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A7A5"/>
                </a:solidFill>
              </a:rPr>
              <a:t>METABRIC z-score result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543800" y="20574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AA7A5"/>
                </a:solidFill>
              </a:rPr>
              <a:t>0.8178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7543800" y="262432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43447"/>
                </a:solidFill>
              </a:rPr>
              <a:t>external accuracy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9281160" y="20574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7B61FF"/>
                </a:solidFill>
              </a:rPr>
              <a:t>0.8057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9281160" y="262432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43447"/>
                </a:solidFill>
              </a:rPr>
              <a:t>external macro F1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7543800" y="3703320"/>
            <a:ext cx="34747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DE8EE">
                <a:alpha val="8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08392" y="3840480"/>
            <a:ext cx="314553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447"/>
                </a:solidFill>
              </a:rPr>
              <a:t>Interpretation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447"/>
                </a:solidFill>
              </a:rPr>
              <a:t>Z-score expression reduced platform-specific scale differences and recovered transferable subtype biology.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543800" y="4983480"/>
            <a:ext cx="34747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DE8EE">
                <a:alpha val="8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08392" y="5120640"/>
            <a:ext cx="314553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447"/>
                </a:solidFill>
              </a:rPr>
              <a:t>Research lesson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447"/>
                </a:solidFill>
              </a:rPr>
              <a:t>External validation is not just running the model on a new dataset; normalization determines whether biology is comparable.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02920" y="6446520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TCGA-BRCA × METABRIC transcriptomics ML project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1201400" y="64282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A7A5"/>
          </a:solidFill>
          <a:ln w="12700">
            <a:solidFill>
              <a:srgbClr val="2AA7A5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3891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8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External validation error pattern is biologically sensible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95097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LumA and Basal were strongest; LumA/LumB confusion reflects shared luminal biology.</a:t>
            </a:r>
            <a:endParaRPr lang="en-US" sz="1150" dirty="0"/>
          </a:p>
        </p:txBody>
      </p:sp>
      <p:pic>
        <p:nvPicPr>
          <p:cNvPr id="6" name="Image 0" descr="/mnt/data/tcga_slides_assets/metabric_confusion_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368764"/>
            <a:ext cx="5394960" cy="466911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29400" y="15087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324A"/>
                </a:solidFill>
              </a:rPr>
              <a:t>What the errors mean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629400" y="2148840"/>
            <a:ext cx="4434840" cy="1463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</a:rPr>
              <a:t>• Basal: strong distinct signal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</a:rPr>
              <a:t>• LumA: very strong luminal signal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</a:rPr>
              <a:t>• Her2 → LumB: partial overlap with proliferative biology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</a:rPr>
              <a:t>• LumB → LumA: expected because both are luminal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629400" y="3977640"/>
            <a:ext cx="44348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DE8E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903720" y="42519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</a:rPr>
              <a:t>Most important confusion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903720" y="457200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76F51"/>
                </a:solidFill>
              </a:rPr>
              <a:t>LumB → LumA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903720" y="49560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Shared hormone-response programs; LumB separation depends heavily on proliferation/cell-cycle signal.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02920" y="6446520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TCGA-BRCA × METABRIC transcriptomics ML project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1201400" y="64282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A7A5"/>
          </a:solidFill>
          <a:ln w="12700">
            <a:solidFill>
              <a:srgbClr val="2AA7A5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3891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8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makes the project strong — and what still needs work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95097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project balances prediction, interpretation, and external validation.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77240" y="1508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9F7E"/>
                </a:solidFill>
              </a:rPr>
              <a:t>Strengths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77240" y="2057400"/>
            <a:ext cx="4800600" cy="2377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43447"/>
                </a:solidFill>
              </a:rPr>
              <a:t>• End-to-end reproducible pipeline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43447"/>
                </a:solidFill>
              </a:rPr>
              <a:t>• Leakage-aware preprocessing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43447"/>
                </a:solidFill>
              </a:rPr>
              <a:t>• Multiple model comparison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43447"/>
                </a:solidFill>
              </a:rPr>
              <a:t>• SHAP + coefficient interpretation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43447"/>
                </a:solidFill>
              </a:rPr>
              <a:t>• Pathway enrichment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43447"/>
                </a:solidFill>
              </a:rPr>
              <a:t>• Independent METABRIC validation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92240" y="1508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76F51"/>
                </a:solidFill>
              </a:rPr>
              <a:t>Limitations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92240" y="2057400"/>
            <a:ext cx="4800600" cy="2103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43447"/>
                </a:solidFill>
              </a:rPr>
              <a:t>• TCGA and METABRIC use different platforms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43447"/>
                </a:solidFill>
              </a:rPr>
              <a:t>• Only one external cohort tested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43447"/>
                </a:solidFill>
              </a:rPr>
              <a:t>• More batch correction methods needed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43447"/>
                </a:solidFill>
              </a:rPr>
              <a:t>• Survival analysis not yet included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43447"/>
                </a:solidFill>
              </a:rPr>
              <a:t>• MLP not extensively tuned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60120" y="51663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A7A5"/>
                </a:solidFill>
              </a:rPr>
              <a:t>Best defense line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5468112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8324A"/>
                </a:solidFill>
              </a:rPr>
              <a:t>“A useful biomedical ML model should not only predict well — it should avoid leakage, recover known biology, and generalize to independent data.”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502920" y="6446520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TCGA-BRCA × METABRIC transcriptomics ML project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1201400" y="64282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A7A5"/>
          </a:solidFill>
          <a:ln w="12700">
            <a:solidFill>
              <a:srgbClr val="2AA7A5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3891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8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extension: survival analysis using subtype probabilities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95097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B turns the classifier into an outcome-linked translational analysis.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914400" y="1645920"/>
            <a:ext cx="1508760" cy="566928"/>
          </a:xfrm>
          <a:prstGeom prst="roundRect">
            <a:avLst>
              <a:gd name="adj" fmla="val 14516"/>
            </a:avLst>
          </a:prstGeom>
          <a:solidFill>
            <a:srgbClr val="2AA7A5"/>
          </a:solidFill>
          <a:ln w="12700">
            <a:solidFill>
              <a:srgbClr val="2AA7A5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9264" y="1783080"/>
            <a:ext cx="1399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Predicted</a:t>
            </a:r>
            <a:endParaRPr lang="en-US" sz="980" dirty="0"/>
          </a:p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probabilities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2423160" y="1929384"/>
            <a:ext cx="475488" cy="0"/>
          </a:xfrm>
          <a:prstGeom prst="line">
            <a:avLst/>
          </a:prstGeom>
          <a:noFill/>
          <a:ln w="19050">
            <a:solidFill>
              <a:srgbClr val="8A97A6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898648" y="1645920"/>
            <a:ext cx="1508760" cy="566928"/>
          </a:xfrm>
          <a:prstGeom prst="roundRect">
            <a:avLst>
              <a:gd name="adj" fmla="val 14516"/>
            </a:avLst>
          </a:prstGeom>
          <a:solidFill>
            <a:srgbClr val="2AA7A5"/>
          </a:solidFill>
          <a:ln w="12700">
            <a:solidFill>
              <a:srgbClr val="2AA7A5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53512" y="1783080"/>
            <a:ext cx="1399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Clinical survival</a:t>
            </a:r>
            <a:endParaRPr lang="en-US" sz="980" dirty="0"/>
          </a:p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metadata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4407408" y="1929384"/>
            <a:ext cx="475488" cy="0"/>
          </a:xfrm>
          <a:prstGeom prst="line">
            <a:avLst/>
          </a:prstGeom>
          <a:noFill/>
          <a:ln w="19050">
            <a:solidFill>
              <a:srgbClr val="8A97A6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882896" y="1645920"/>
            <a:ext cx="1508760" cy="566928"/>
          </a:xfrm>
          <a:prstGeom prst="roundRect">
            <a:avLst>
              <a:gd name="adj" fmla="val 14516"/>
            </a:avLst>
          </a:prstGeom>
          <a:solidFill>
            <a:srgbClr val="18324A"/>
          </a:solidFill>
          <a:ln w="12700">
            <a:solidFill>
              <a:srgbClr val="18324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783080"/>
            <a:ext cx="1399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Kaplan–Meier</a:t>
            </a:r>
            <a:endParaRPr lang="en-US" sz="980" dirty="0"/>
          </a:p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curves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6391656" y="1929384"/>
            <a:ext cx="475488" cy="0"/>
          </a:xfrm>
          <a:prstGeom prst="line">
            <a:avLst/>
          </a:prstGeom>
          <a:noFill/>
          <a:ln w="19050">
            <a:solidFill>
              <a:srgbClr val="8A97A6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867144" y="1645920"/>
            <a:ext cx="1508760" cy="566928"/>
          </a:xfrm>
          <a:prstGeom prst="roundRect">
            <a:avLst>
              <a:gd name="adj" fmla="val 14516"/>
            </a:avLst>
          </a:prstGeom>
          <a:solidFill>
            <a:srgbClr val="18324A"/>
          </a:solidFill>
          <a:ln w="12700">
            <a:solidFill>
              <a:srgbClr val="18324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22008" y="1783080"/>
            <a:ext cx="1399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Cox models</a:t>
            </a:r>
            <a:endParaRPr lang="en-US" sz="980" dirty="0"/>
          </a:p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HR + p-value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8375904" y="1929384"/>
            <a:ext cx="475488" cy="0"/>
          </a:xfrm>
          <a:prstGeom prst="line">
            <a:avLst/>
          </a:prstGeom>
          <a:noFill/>
          <a:ln w="19050">
            <a:solidFill>
              <a:srgbClr val="8A97A6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851392" y="1645920"/>
            <a:ext cx="1508760" cy="566928"/>
          </a:xfrm>
          <a:prstGeom prst="roundRect">
            <a:avLst>
              <a:gd name="adj" fmla="val 14516"/>
            </a:avLst>
          </a:prstGeom>
          <a:solidFill>
            <a:srgbClr val="7B61FF"/>
          </a:solidFill>
          <a:ln w="12700">
            <a:solidFill>
              <a:srgbClr val="7B61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06256" y="1783080"/>
            <a:ext cx="1399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Risk-linked</a:t>
            </a:r>
            <a:endParaRPr lang="en-US" sz="980" dirty="0"/>
          </a:p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subtype biology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914400" y="3063240"/>
            <a:ext cx="43434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DE8EE">
                <a:alpha val="8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78992" y="3200400"/>
            <a:ext cx="401421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447"/>
                </a:solidFill>
              </a:rPr>
              <a:t>Survival question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447"/>
                </a:solidFill>
              </a:rPr>
              <a:t>Do model predictions or subtype-confidence scores relate to patient outcomes?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943600" y="3063240"/>
            <a:ext cx="47548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DE8EE">
                <a:alpha val="8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08192" y="3200400"/>
            <a:ext cx="4425696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447"/>
                </a:solidFill>
              </a:rPr>
              <a:t>Planned outputs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447"/>
                </a:solidFill>
              </a:rPr>
              <a:t>• Kaplan–Meier plots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447"/>
                </a:solidFill>
              </a:rPr>
              <a:t>• Cox proportional hazards table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447"/>
                </a:solidFill>
              </a:rPr>
              <a:t>• Survival comparison by predicted subtype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447"/>
                </a:solidFill>
              </a:rPr>
              <a:t>• Optional: high-vs-low probability groups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05840" y="5285232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8324A"/>
                </a:solidFill>
              </a:rPr>
              <a:t>This is the next natural research upgrade after external validation.</a:t>
            </a:r>
            <a:endParaRPr lang="en-US" sz="2300" dirty="0"/>
          </a:p>
        </p:txBody>
      </p:sp>
      <p:sp>
        <p:nvSpPr>
          <p:cNvPr id="25" name="Text 23"/>
          <p:cNvSpPr/>
          <p:nvPr/>
        </p:nvSpPr>
        <p:spPr>
          <a:xfrm>
            <a:off x="502920" y="6446520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TCGA-BRCA × METABRIC transcriptomics ML project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201400" y="64282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Generated with ChatGPT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Interpretable Cross-Cohort Transcriptomic Classification of Breast Cancer Molecular Subtypes</dc:title>
  <dc:subject>TCGA-BRCA transcriptomics ML project presentation</dc:subject>
  <dc:creator>Nikita / Ajit</dc:creator>
  <cp:lastModifiedBy>Nikita / Ajit</cp:lastModifiedBy>
  <cp:revision>1</cp:revision>
  <dcterms:created xsi:type="dcterms:W3CDTF">2026-06-01T17:53:18Z</dcterms:created>
  <dcterms:modified xsi:type="dcterms:W3CDTF">2026-06-01T17:53:18Z</dcterms:modified>
</cp:coreProperties>
</file>